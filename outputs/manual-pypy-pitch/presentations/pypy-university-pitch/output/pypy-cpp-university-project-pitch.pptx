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a11842e79640df" /><Relationship Type="http://schemas.openxmlformats.org/officeDocument/2006/relationships/extended-properties" Target="/docProps/app.xml" Id="Rbc3393f0ec6b400b" /><Relationship Type="http://schemas.openxmlformats.org/officeDocument/2006/relationships/officeDocument" Target="/ppt/presentation.xml" Id="Rc167f273d65f40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71dbb91d3e4e75"/>
  </p:sldMasterIdLst>
  <p:notesMasterIdLst>
    <p:notesMasterId xmlns:r="http://schemas.openxmlformats.org/officeDocument/2006/relationships" r:id="R66b69690c97d4e7f"/>
  </p:notesMasterIdLst>
  <p:sldIdLst>
    <p:sldId xmlns:r="http://schemas.openxmlformats.org/officeDocument/2006/relationships" id="256" r:id="R8061691c361c439c"/>
    <p:sldId xmlns:r="http://schemas.openxmlformats.org/officeDocument/2006/relationships" id="257" r:id="R11afc4316a644d6f"/>
    <p:sldId xmlns:r="http://schemas.openxmlformats.org/officeDocument/2006/relationships" id="258" r:id="R2af9ff927dd7486f"/>
    <p:sldId xmlns:r="http://schemas.openxmlformats.org/officeDocument/2006/relationships" id="259" r:id="R3e5507e9773548d1"/>
    <p:sldId xmlns:r="http://schemas.openxmlformats.org/officeDocument/2006/relationships" id="260" r:id="Rcef54626f0f34bac"/>
    <p:sldId xmlns:r="http://schemas.openxmlformats.org/officeDocument/2006/relationships" id="261" r:id="Rbf20bf76afce4a97"/>
    <p:sldId xmlns:r="http://schemas.openxmlformats.org/officeDocument/2006/relationships" id="262" r:id="Rb50ebdc3e542416f"/>
    <p:sldId xmlns:r="http://schemas.openxmlformats.org/officeDocument/2006/relationships" id="263" r:id="R8676605d384e4139"/>
    <p:sldId xmlns:r="http://schemas.openxmlformats.org/officeDocument/2006/relationships" id="264" r:id="Rb3aee840d26e4e50"/>
    <p:sldId xmlns:r="http://schemas.openxmlformats.org/officeDocument/2006/relationships" id="265" r:id="R98b8c750b13e489e"/>
    <p:sldId xmlns:r="http://schemas.openxmlformats.org/officeDocument/2006/relationships" id="266" r:id="Rf605b96bc88742f8"/>
    <p:sldId xmlns:r="http://schemas.openxmlformats.org/officeDocument/2006/relationships" id="267" r:id="Rd93d5881e91a41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1dbb91d3e4e75" /><Relationship Type="http://schemas.openxmlformats.org/officeDocument/2006/relationships/theme" Target="/ppt/theme/theme1.xml" Id="Rcf5e04aefd534fcf" /><Relationship Type="http://schemas.openxmlformats.org/officeDocument/2006/relationships/notesMaster" Target="/ppt/notesMasters/notesMaster1.xml" Id="R66b69690c97d4e7f" /><Relationship Type="http://schemas.openxmlformats.org/officeDocument/2006/relationships/presProps" Target="/ppt/presProps.xml" Id="R05b03f58766f48aa" /><Relationship Type="http://schemas.openxmlformats.org/officeDocument/2006/relationships/viewProps" Target="/ppt/viewProps.xml" Id="R0ae6a9471201484b" /><Relationship Type="http://schemas.openxmlformats.org/officeDocument/2006/relationships/tableStyles" Target="/ppt/tableStyles.xml" Id="Rd91d643bd4cc4d70" /><Relationship Type="http://schemas.openxmlformats.org/officeDocument/2006/relationships/slide" Target="/ppt/slides/slide1.xml" Id="R8061691c361c439c" /><Relationship Type="http://schemas.openxmlformats.org/officeDocument/2006/relationships/slide" Target="/ppt/slides/slide2.xml" Id="R11afc4316a644d6f" /><Relationship Type="http://schemas.openxmlformats.org/officeDocument/2006/relationships/slide" Target="/ppt/slides/slide3.xml" Id="R2af9ff927dd7486f" /><Relationship Type="http://schemas.openxmlformats.org/officeDocument/2006/relationships/slide" Target="/ppt/slides/slide4.xml" Id="R3e5507e9773548d1" /><Relationship Type="http://schemas.openxmlformats.org/officeDocument/2006/relationships/slide" Target="/ppt/slides/slide5.xml" Id="Rcef54626f0f34bac" /><Relationship Type="http://schemas.openxmlformats.org/officeDocument/2006/relationships/slide" Target="/ppt/slides/slide6.xml" Id="Rbf20bf76afce4a97" /><Relationship Type="http://schemas.openxmlformats.org/officeDocument/2006/relationships/slide" Target="/ppt/slides/slide7.xml" Id="Rb50ebdc3e542416f" /><Relationship Type="http://schemas.openxmlformats.org/officeDocument/2006/relationships/slide" Target="/ppt/slides/slide8.xml" Id="R8676605d384e4139" /><Relationship Type="http://schemas.openxmlformats.org/officeDocument/2006/relationships/slide" Target="/ppt/slides/slide9.xml" Id="Rb3aee840d26e4e50" /><Relationship Type="http://schemas.openxmlformats.org/officeDocument/2006/relationships/slide" Target="/ppt/slides/slide10.xml" Id="R98b8c750b13e489e" /><Relationship Type="http://schemas.openxmlformats.org/officeDocument/2006/relationships/slide" Target="/ppt/slides/slide11.xml" Id="Rf605b96bc88742f8" /><Relationship Type="http://schemas.openxmlformats.org/officeDocument/2006/relationships/slide" Target="/ppt/slides/slide12.xml" Id="Rd93d5881e91a41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99164e7ac1646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5aa6780b34561" /><Relationship Type="http://schemas.openxmlformats.org/officeDocument/2006/relationships/notesMaster" Target="/ppt/notesMasters/notesMaster1.xml" Id="R2b08ff5ec6154d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618b4676ce4454" /><Relationship Type="http://schemas.openxmlformats.org/officeDocument/2006/relationships/notesMaster" Target="/ppt/notesMasters/notesMaster1.xml" Id="R49f0611bbbf449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3e755941154918" /><Relationship Type="http://schemas.openxmlformats.org/officeDocument/2006/relationships/notesMaster" Target="/ppt/notesMasters/notesMaster1.xml" Id="R5556d737bee24b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e0abaadf9844d1" /><Relationship Type="http://schemas.openxmlformats.org/officeDocument/2006/relationships/notesMaster" Target="/ppt/notesMasters/notesMaster1.xml" Id="R5b14c0ae530c4c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bb2843f91744f0" /><Relationship Type="http://schemas.openxmlformats.org/officeDocument/2006/relationships/notesMaster" Target="/ppt/notesMasters/notesMaster1.xml" Id="R24a8d21169954e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eac2d3ab744ff8" /><Relationship Type="http://schemas.openxmlformats.org/officeDocument/2006/relationships/notesMaster" Target="/ppt/notesMasters/notesMaster1.xml" Id="Rb37dc41b481e4d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393c0924504c57" /><Relationship Type="http://schemas.openxmlformats.org/officeDocument/2006/relationships/notesMaster" Target="/ppt/notesMasters/notesMaster1.xml" Id="R427c9bca4ff243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894a19c8084254" /><Relationship Type="http://schemas.openxmlformats.org/officeDocument/2006/relationships/notesMaster" Target="/ppt/notesMasters/notesMaster1.xml" Id="R3b1d8869914344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c8c116e4cc4d88" /><Relationship Type="http://schemas.openxmlformats.org/officeDocument/2006/relationships/notesMaster" Target="/ppt/notesMasters/notesMaster1.xml" Id="R90e3465b79444c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521d1da2834284" /><Relationship Type="http://schemas.openxmlformats.org/officeDocument/2006/relationships/notesMaster" Target="/ppt/notesMasters/notesMaster1.xml" Id="R60f9405bb92b43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fc4ca3751a48d0" /><Relationship Type="http://schemas.openxmlformats.org/officeDocument/2006/relationships/notesMaster" Target="/ppt/notesMasters/notesMaster1.xml" Id="R3bf87bfef79446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5b9f67db274bee" /><Relationship Type="http://schemas.openxmlformats.org/officeDocument/2006/relationships/notesMaster" Target="/ppt/notesMasters/notesMaster1.xml" Id="Rf49df10c9cc14d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4d4081860476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9ed66ace0114340" /><Relationship Type="http://schemas.openxmlformats.org/officeDocument/2006/relationships/slideLayout" Target="/ppt/slideLayouts/slideLayout2.xml" Id="R09a68213630f49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68213630f49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56ea38f6f54f41" /><Relationship Type="http://schemas.openxmlformats.org/officeDocument/2006/relationships/notesSlide" Target="/ppt/notesSlides/notesSlide1.xml" Id="R8ebd0254ca324c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1f5beb84c04846" /><Relationship Type="http://schemas.openxmlformats.org/officeDocument/2006/relationships/image" Target="/ppt/media/image.png" Id="R7f49424e8621447a" /><Relationship Type="http://schemas.openxmlformats.org/officeDocument/2006/relationships/image" Target="/ppt/media/image.svg" Id="R897c7d5c8adc4bd2" /><Relationship Type="http://schemas.openxmlformats.org/officeDocument/2006/relationships/image" Target="/ppt/media/image2.png" Id="Rccb3a74ba4114f0d" /><Relationship Type="http://schemas.openxmlformats.org/officeDocument/2006/relationships/image" Target="/ppt/media/image2.svg" Id="Rda1bddd6b8bf4785" /><Relationship Type="http://schemas.openxmlformats.org/officeDocument/2006/relationships/image" Target="/ppt/media/image3.png" Id="R9024ecc14aab4ae9" /><Relationship Type="http://schemas.openxmlformats.org/officeDocument/2006/relationships/image" Target="/ppt/media/image3.svg" Id="R1cf3dfb1317044db" /><Relationship Type="http://schemas.openxmlformats.org/officeDocument/2006/relationships/image" Target="/ppt/media/image4.png" Id="R1b1e3349eb8340f8" /><Relationship Type="http://schemas.openxmlformats.org/officeDocument/2006/relationships/image" Target="/ppt/media/image4.svg" Id="R6acb878c9c304097" /><Relationship Type="http://schemas.openxmlformats.org/officeDocument/2006/relationships/notesSlide" Target="/ppt/notesSlides/notesSlide2.xml" Id="R9660b7161ef849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38f408f3a84310" /><Relationship Type="http://schemas.openxmlformats.org/officeDocument/2006/relationships/image" Target="/ppt/media/image5.png" Id="R47673a5cfb5f4b75" /><Relationship Type="http://schemas.openxmlformats.org/officeDocument/2006/relationships/image" Target="/ppt/media/image5.svg" Id="R5581576a3bf1444e" /><Relationship Type="http://schemas.openxmlformats.org/officeDocument/2006/relationships/image" Target="/ppt/media/image6.png" Id="Rd2f34a2b938242ce" /><Relationship Type="http://schemas.openxmlformats.org/officeDocument/2006/relationships/image" Target="/ppt/media/image6.svg" Id="R55d062965cff4f16" /><Relationship Type="http://schemas.openxmlformats.org/officeDocument/2006/relationships/image" Target="/ppt/media/image7.png" Id="Rece9d16c1ed54392" /><Relationship Type="http://schemas.openxmlformats.org/officeDocument/2006/relationships/image" Target="/ppt/media/image7.svg" Id="R542637f4d24f4292" /><Relationship Type="http://schemas.openxmlformats.org/officeDocument/2006/relationships/image" Target="/ppt/media/image8.png" Id="R01f8f5fe77d24612" /><Relationship Type="http://schemas.openxmlformats.org/officeDocument/2006/relationships/image" Target="/ppt/media/image8.svg" Id="Rccad641092964db0" /><Relationship Type="http://schemas.openxmlformats.org/officeDocument/2006/relationships/image" Target="/ppt/media/image9.png" Id="Rd891fffcafd84aba" /><Relationship Type="http://schemas.openxmlformats.org/officeDocument/2006/relationships/image" Target="/ppt/media/image9.svg" Id="Rb2bcf6f9cdd34b18" /><Relationship Type="http://schemas.openxmlformats.org/officeDocument/2006/relationships/image" Target="/ppt/media/image10.png" Id="R998983561dcf4b3d" /><Relationship Type="http://schemas.openxmlformats.org/officeDocument/2006/relationships/image" Target="/ppt/media/image10.svg" Id="R7e0bccf7c70a4895" /><Relationship Type="http://schemas.openxmlformats.org/officeDocument/2006/relationships/notesSlide" Target="/ppt/notesSlides/notesSlide3.xml" Id="Re8efed57d4e74d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fd02490fd34b5d" /><Relationship Type="http://schemas.openxmlformats.org/officeDocument/2006/relationships/notesSlide" Target="/ppt/notesSlides/notesSlide4.xml" Id="R7c6869e0ca1845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1fa9e7d4734f68" /><Relationship Type="http://schemas.openxmlformats.org/officeDocument/2006/relationships/notesSlide" Target="/ppt/notesSlides/notesSlide5.xml" Id="R4cf1ea26d9fb42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7cf17c9d1429c" /><Relationship Type="http://schemas.openxmlformats.org/officeDocument/2006/relationships/notesSlide" Target="/ppt/notesSlides/notesSlide6.xml" Id="R38c0dec82b0c49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7b995c66c1404d" /><Relationship Type="http://schemas.openxmlformats.org/officeDocument/2006/relationships/notesSlide" Target="/ppt/notesSlides/notesSlide7.xml" Id="Rad8fd546b4e245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f93a3e8d874ae4" /><Relationship Type="http://schemas.openxmlformats.org/officeDocument/2006/relationships/notesSlide" Target="/ppt/notesSlides/notesSlide8.xml" Id="R2dee9399e32048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88a5215d63489c" /><Relationship Type="http://schemas.openxmlformats.org/officeDocument/2006/relationships/notesSlide" Target="/ppt/notesSlides/notesSlide9.xml" Id="R991a7982efc143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bf44583c68489e" /><Relationship Type="http://schemas.openxmlformats.org/officeDocument/2006/relationships/image" Target="/ppt/media/image11.png" Id="R13b630e5ab1a4f98" /><Relationship Type="http://schemas.openxmlformats.org/officeDocument/2006/relationships/image" Target="/ppt/media/image11.svg" Id="Rdc31bab9e4d84f82" /><Relationship Type="http://schemas.openxmlformats.org/officeDocument/2006/relationships/image" Target="/ppt/media/image12.png" Id="R21f6585d60d14be7" /><Relationship Type="http://schemas.openxmlformats.org/officeDocument/2006/relationships/image" Target="/ppt/media/image12.svg" Id="Ra4e94124e64d453c" /><Relationship Type="http://schemas.openxmlformats.org/officeDocument/2006/relationships/image" Target="/ppt/media/image13.png" Id="Re4a84e87ee454ed6" /><Relationship Type="http://schemas.openxmlformats.org/officeDocument/2006/relationships/image" Target="/ppt/media/image13.svg" Id="Rb027249608eb4436" /><Relationship Type="http://schemas.openxmlformats.org/officeDocument/2006/relationships/notesSlide" Target="/ppt/notesSlides/notesSlide10.xml" Id="R98e9405022f44c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e252164fa24e6b" /><Relationship Type="http://schemas.openxmlformats.org/officeDocument/2006/relationships/notesSlide" Target="/ppt/notesSlides/notesSlide11.xml" Id="R8620fd847eec4b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404131bd2240f1" /><Relationship Type="http://schemas.openxmlformats.org/officeDocument/2006/relationships/image" Target="/ppt/media/image14.png" Id="Rc66a5caa2bde4866" /><Relationship Type="http://schemas.openxmlformats.org/officeDocument/2006/relationships/image" Target="/ppt/media/image14.svg" Id="R3dfad17f048a4ac4" /><Relationship Type="http://schemas.openxmlformats.org/officeDocument/2006/relationships/image" Target="/ppt/media/image15.png" Id="R6c5c2d90550841e5" /><Relationship Type="http://schemas.openxmlformats.org/officeDocument/2006/relationships/image" Target="/ppt/media/image15.svg" Id="R7faffbc84a34441f" /><Relationship Type="http://schemas.openxmlformats.org/officeDocument/2006/relationships/notesSlide" Target="/ppt/notesSlides/notesSlide12.xml" Id="R16011c2c02c741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50966E-1227-4A34-8F86-612A0104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58B9A-3BFD-4DCA-98A1-1FE1B41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6AEA8-7653-4F6A-88CE-D546D164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97E6F-3DE9-4360-BDDD-4A3E6355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EFCF04-3B46-4B2E-A023-9566E1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7BCC24-AAE8-4ABD-A9C9-EE6073C7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UNIVERSITY PROJECT 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938BC-7385-46FC-AF5F-D0B6FDC5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PyPy C++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62544-14F3-4F16-9625-DAF097BB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A custom programming language interpreter built from first principles in C++.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1A9E2-D20E-498A-97A7-2192E06C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4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B45A"/>
                </a:solidFill>
                <a:latin typeface="Aptos"/>
                <a:ea typeface="Aptos"/>
                <a:cs typeface="Aptos"/>
              </a:rPr>
              <a:t>Created by Ahmad Bin Tahir and Zoya Masood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D1025-4055-4FC8-B1B9-A3048B61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172FF-F110-4A90-9FBD-370D8900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E11CD-87E7-4DCE-91A5-D6862CA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190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0B0EB-CCF9-4F9B-B5C7-AE18D787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190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B97D0-58FC-42B9-A059-3BACB7A1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90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5C751-FCDE-4D1A-A61B-ECB0C4C5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143000"/>
            <a:ext cx="388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rPr>
              <a:t>pypy_language.exe examples\showcase.pypy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E9F92-E653-4899-8957-49C42B78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81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PyPy language showcase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ADC5F-14B7-4015-96F8-F1FA263A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----------------------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CDE42-179C-412B-95E2-BA75FE4D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Hello, STUDENT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C39D7-CFD3-4380-AF09-1FB9F18A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Score: 87 Grade: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0EE1A-7907-44B4-A3D7-E845336C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955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Factorial 6 = 720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82B3E-EEA6-4C85-9017-AD24C26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Average marks = 79.75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9AAD4-6A6C-4D3E-A8DD-0072199F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Board diagonal: X O 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E4225-7E0A-46C9-9904-356CFDF8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repeat block works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ADDC8-36DD-4DC6-8300-1F61E4D5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F0A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F0A0"/>
                </a:solidFill>
                <a:latin typeface="Aptos Mono"/>
                <a:ea typeface="Aptos Mono"/>
                <a:cs typeface="Aptos Mono"/>
              </a:rPr>
              <a:t>&gt; project ready for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E4432-A80A-440A-8CB0-5723491A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7E027-B887-418F-95A2-E6A807FE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C6EC7E-9EED-4358-A4AD-9FFFCEA0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6B5B5A-2357-4661-B267-DC7D2984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C++ source files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8702C-FC8B-41FE-8781-68833A9E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005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532DE0-1418-4E0C-97EA-EDDF8C95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00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3A36BC-397A-4287-B1C6-0871DF8E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339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10+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EAF33D-4C81-499F-801A-8CEC6A1E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482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demo and test files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6BD49B-65F3-4F5C-8E92-428EA648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005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53429B-07C0-4202-9CC2-7E5DBC95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00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47B49A-65A0-4473-AA57-C2EF5939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7BB34B-979D-448E-BDF5-8CB2F541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482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function slots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C0CFBD-7067-42D8-BAFD-EC63BF2E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 premium walkthrough of what it does, how it works, why it matters, and where it can go next.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F29312-DE8F-452D-8073-8618F05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Project pitch deck: PyPy C++ custom language interpreter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ED8EA2-229C-4D14-B764-1F295369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212692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323324-7E24-437E-A2AE-D88D8F08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75B36-C32E-4547-AF4A-04B47B9B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07D55-7D23-4C8F-AE47-82D777D8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0EB47-56ED-4252-BFAD-532411B0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1F9C6F4-28C8-4DC2-B682-ECB4BE32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B33A82-5545-4757-A333-8C3A4CA4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PROJECT AMBITION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D7BE3-DB97-4310-8D9D-C215990C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project turns language theory into a working runtime.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180FC-FA6F-41FE-811E-CC707432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Instead of only writing syntax examples, PyPy C++ loads code, parses expressions, manages state, runs blocks, and reports errors.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F6613-78D1-4899-A3B8-7B032D15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D3B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91ED7-CE2B-4DE6-ACB9-1DD45C20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9424e8621447a">
            <a:extLst>
              <a:ext uri="{96DAC541-7B7A-43D3-8B79-37D633B846F1}">
                <asvg:svgBlip xmlns:asvg="http://schemas.microsoft.com/office/drawing/2016/SVG/main" r:embed="R897c7d5c8adc4b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71575" y="30575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332C0-ED87-4C16-958C-B95FE8BE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Typical class 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1C449-14E6-41E7-886C-73010A68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Show a few grammar rules or isolated code examples.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CFAAB-4266-40E7-856E-7CD3B7E6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957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91810-82A6-4AA3-AAF1-ED0F870E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195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52251-ED75-457A-8B60-48C395E6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005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8D9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8D9FF"/>
                </a:solidFill>
                <a:latin typeface="Aptos"/>
                <a:ea typeface="Aptos"/>
                <a:cs typeface="Aptos"/>
              </a:rPr>
              <a:t>PyPy C++ adds the interpreter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D9A65-3469-46FD-A785-3DCA53FB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24100"/>
            <a:ext cx="4953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2D3B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A4DDB-EDBE-4E28-83C4-E44AA43F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3a74ba4114f0d">
            <a:extLst>
              <a:ext uri="{96DAC541-7B7A-43D3-8B79-37D633B846F1}">
                <asvg:svgBlip xmlns:asvg="http://schemas.microsoft.com/office/drawing/2016/SVG/main" r:embed="Rda1bddd6b8bf47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05525" y="2790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3B253-BFAB-4B42-ADAD-A3F6310A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4ecc14aab4ae9">
            <a:extLst>
              <a:ext uri="{96DAC541-7B7A-43D3-8B79-37D633B846F1}">
                <asvg:svgBlip xmlns:asvg="http://schemas.microsoft.com/office/drawing/2016/SVG/main" r:embed="R1cf3dfb1317044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24775" y="2790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45EC9-A257-4B34-BECC-AC7D95AA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e3349eb8340f8">
            <a:extLst>
              <a:ext uri="{96DAC541-7B7A-43D3-8B79-37D633B846F1}">
                <asvg:svgBlip xmlns:asvg="http://schemas.microsoft.com/office/drawing/2016/SVG/main" r:embed="R6acb878c9c3040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44025" y="2790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6665C-ECEF-401F-B403-EDDF865D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Working mini language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E8A812-D47B-49B8-B344-9D1A88E1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A line-based language with variables, functions, loops, arrays, matrices, input, files, built-ins, and a terminal mode.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7215D-9411-4BE4-80CA-DAAB11B8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43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B4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B45A"/>
                </a:solidFill>
                <a:latin typeface="Aptos"/>
                <a:ea typeface="Aptos"/>
                <a:cs typeface="Aptos"/>
              </a:rPr>
              <a:t>Pitch point: the project proves implementation skill, not just concept knowledge.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B54A3-30AC-4FBF-A06A-B7C78520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Source: local project files and examples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81C78-B560-4610-8F9A-51D065D7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52816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634CE-3297-4800-982D-EE4635AE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1611-17C8-4557-AEB4-53DD1354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13F43-0975-4290-A803-758075FB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687E3-70EE-4AD9-A46C-76484D11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FCC0ACF-0608-4783-8337-D6D29300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0B23AA-4A1E-4144-8908-375817A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LANGUAGE 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C2C45-419A-4948-81BB-391FC705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PyPy covers the core capabilities expected from a mini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B31DE-F14E-4AA2-835D-7BD90A98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Each feature is backed by source code and demonstration files, so the presentation can move from syntax to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67E2A-E0BA-45E8-AB83-D67D38DA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93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22FFF-65A3-40D5-97F1-55B769EC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73a5cfb5f4b75">
            <a:extLst>
              <a:ext uri="{96DAC541-7B7A-43D3-8B79-37D633B846F1}">
                <asvg:svgBlip xmlns:asvg="http://schemas.microsoft.com/office/drawing/2016/SVG/main" r:embed="R5581576a3bf144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" y="29432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2240B-4A7E-4634-BF80-CD954FEF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9A0DD-C936-405A-8640-ABC0DBBA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let, assignment, scalar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994D2-BB07-489E-A69D-9FA6994B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90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93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05264-3822-4A25-AB56-35C90DEA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384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34a2b938242ce">
            <a:extLst>
              <a:ext uri="{96DAC541-7B7A-43D3-8B79-37D633B846F1}">
                <asvg:svgBlip xmlns:asvg="http://schemas.microsoft.com/office/drawing/2016/SVG/main" r:embed="R55d062965cff4f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29432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2546C-3E37-4950-8025-A874A436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194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A25DF-48F6-4341-A41F-C1C01ABD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43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if / else, while, 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FFD60-F589-44D5-A42C-C4CA6DAF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908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93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55723-4F4B-4BC9-A281-A9C03F96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84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9d16c1ed54392">
            <a:extLst>
              <a:ext uri="{96DAC541-7B7A-43D3-8B79-37D633B846F1}">
                <asvg:svgBlip xmlns:asvg="http://schemas.microsoft.com/office/drawing/2016/SVG/main" r:embed="R542637f4d24f42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77175" y="29432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E43FA-ADED-4E1A-BE62-5A943BE2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194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D1E11-F539-4EB7-B5F3-0881D147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func, parameters, return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BDBAE-AAE3-4FEE-9584-CF61869A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93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5FA23-D45E-494D-8E38-05A81748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8f5fe77d24612">
            <a:extLst>
              <a:ext uri="{96DAC541-7B7A-43D3-8B79-37D633B846F1}">
                <asvg:svgBlip xmlns:asvg="http://schemas.microsoft.com/office/drawing/2016/SVG/main" r:embed="Rccad641092964d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" y="43529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444C9-058A-4DC0-AB29-605C62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44ACB-FEA1-4869-996C-8F2E46D2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arrays and matrices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9A4621-77C6-4769-9249-58B0BF01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005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938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2A222-BCEC-4261-924B-D6A29EA8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48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1fffcafd84aba">
            <a:extLst>
              <a:ext uri="{96DAC541-7B7A-43D3-8B79-37D633B846F1}">
                <asvg:svgBlip xmlns:asvg="http://schemas.microsoft.com/office/drawing/2016/SVG/main" r:embed="Rb2bcf6f9cdd34b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43529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3EED63-1138-467A-93B7-5C5275CD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291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F65C41-2340-42A5-9C6D-813779FA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529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read, write, append, linecount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4A5BF5-B5F3-4F2E-8AA9-795633D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00500"/>
            <a:ext cx="297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938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5109DC-44E7-432A-BDB1-BF842D99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481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983561dcf4b3d">
            <a:extLst>
              <a:ext uri="{96DAC541-7B7A-43D3-8B79-37D633B846F1}">
                <asvg:svgBlip xmlns:asvg="http://schemas.microsoft.com/office/drawing/2016/SVG/main" r:embed="R7e0bccf7c70a48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77175" y="43529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9E3D03-EC6E-4A22-BF6A-2259D298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Built-ins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54E9F1-69A7-41CE-90FC-9FE071DF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text, math, random, algebra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3A043E-B538-4D49-A3E9-009B3571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973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9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B80CEF-7F9D-41B5-84A7-DCFAAEDF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918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9FAEC0"/>
                </a:solidFill>
                <a:latin typeface="Aptos Mono"/>
                <a:ea typeface="Aptos Mono"/>
                <a:cs typeface="Aptos Mono"/>
              </a:rPr>
              <a:t>Presentation proof: smoke.pypy, showcase.pypy, math_algebra.pypy, builtins_showcase.pypy, input_demo.pypy, hotel_management.pypy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6C4218-7A12-470D-BAA5-D206627A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Source: README.md and examples folder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B96CBB-1FBE-47ED-8879-B6551067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13110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2AA94E-3AA0-40BA-9784-B8183803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F1F15-5997-46E7-83A1-F5E2C4E4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EAEB9-F275-4244-93B2-73228720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9AB4C-845F-4BB9-824A-E9EBEB38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3FBDEC8-3965-4799-BF18-67BEB18F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F1E225-8D40-4D03-A82C-C29A28E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APP PREVIEWS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915E8-31DA-493F-9984-A11B4956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Two execution modes make the language easy to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B3B4E-7656-4B1D-A05C-17FEA30E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Script mode proves saved programs work. Buffered terminal mode proves an interactive developer experience.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1E354-8B95-494F-84AC-A0DF1D35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8577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E7917-D774-4F4D-9CB3-523D99A1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656D7-8672-4EA3-AB97-E174B7F8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3329F-1042-4252-B0E5-10A26F00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69C60-3767-4A3E-83F2-E9E76C58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95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02863-97FD-498D-9D6B-4AB6E4B4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rPr>
              <a:t>script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241DC-D7A3-4C0A-8563-920E2378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&gt; .\pypy_language.exe examples\math_algebra.pypy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B05AC-CC03-46F8-AE91-6BE812C7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BODMAS and algebra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0D0C5-DD40-47AA-9886-8D23280A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2 + 3 * 4 = 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400F5-2766-47F7-87F2-93C69947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(2 + 3) * 4 = 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6B870-A7E4-4962-A935-4224C75D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solve_linear(2, -10): x =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839DA-48FA-4CE3-8F41-6FBE0182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quadratic_roots(...): x1 = 3, x2 =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A016D-C0A3-49B7-A1CE-DD80DE59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48577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7E186-D70B-4106-BAC1-7B112A93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68DF9-9721-4906-95FD-F35498EB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AD152-7A07-4D96-AC25-B872D227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95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33A2B-1213-4E52-999D-97F4ABEC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95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D5FE6-213A-4496-B102-18F80486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398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rPr>
              <a:t>buffered terminal mode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3C43F-1FFF-458B-99E1-8B353D30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F0A0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F0A0"/>
                </a:solidFill>
                <a:latin typeface="Aptos Mono"/>
                <a:ea typeface="Aptos Mono"/>
                <a:cs typeface="Aptos Mono"/>
              </a:rPr>
              <a:t>&gt; .\pypy_language.exe --terminal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6A53B7-9958-4372-A522-AD651422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pypy-buffer&gt; func square(x)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7A386E-B55B-450B-8133-4FD0888E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pypy-buffer&gt;     return x * 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6E9DAF-98D5-4BF9-8058-8332885C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pypy-buffer&gt; 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DF25D-FD4D-42B8-834B-8E0F9101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pypy-buffer&gt; say square(9)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66FB12-42EC-48A7-BEF5-274DDB9D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pypy-buffer&gt; execute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4C795A-8E7F-4388-8B40-4CFD72C5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43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81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60BCD7-D872-4D6C-A8FF-E939006C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CAD546-7D42-417B-B78C-FED4F94A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3105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8B45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B45A"/>
                </a:solidFill>
                <a:latin typeface="Aptos"/>
                <a:ea typeface="Aptos"/>
                <a:cs typeface="Aptos"/>
              </a:rPr>
              <a:t>Normal lines are stored first; execution starts only when the user types execute.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153322-11E0-44E9-BFB5-2CA312BE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Source: LANGUAGE_GUIDE.md terminal mode section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973020-DA27-4312-92EE-F7F3C422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13050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D3B4C4-DE8C-4578-8A1A-66DEC5B4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EDBCA-7013-41FD-8A44-32CC46D2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925DA-FDB6-4C17-945F-A322CB9D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DFDEA-9EA3-4B53-8E14-A736431C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E20782-A8E2-4D22-853E-F795232F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583120-FBC8-4726-8781-59605958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SYNTAX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03417-F05B-4747-AF9A-967AC2B6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syntax stays readable while still supporting real programs.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C3587-8526-4F29-A30F-AFA0E69D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This makes the language friendly for a professor demo and explainable line by 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DF4C1-2C07-4CFC-882A-04DC226D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715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5A5BC-D4DE-4307-A01C-B5BC4FBF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E7147-253E-4DB9-B64B-93722371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537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rPr>
              <a:t>showcase.pypy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4239E-B134-400D-803A-7301D53C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552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E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A2B98-6F7B-4C4A-892F-867C6CFD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C3F67-B38E-4308-AD24-F6C4F53F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func factorial(n)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BEF3B-1D5D-4075-8969-470E65EF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15976-89D7-4A97-9A77-52589F30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    let answer 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AEEE0-3FA5-48DE-8E11-AB43D80E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552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E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B9F4D-035F-471B-BE95-35AE506A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7AB21-E76C-456A-8A11-1338C0A9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7185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    while n &gt;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2C90E-E697-4FD8-8281-9E6BDB5E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C599C-7A5F-4D89-808C-1BDBFCC3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90925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        let answer = answer * 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12178-EE95-47B0-8D09-3BAD7EA7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0A7761-347A-4493-8426-7D78D83C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        let n = n - 1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93830-7652-4040-A15E-7CAB8AB0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1F08CD-019F-4457-AE75-F223E074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29075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    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9085A-7914-438C-919B-A34B6263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552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E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58524-EE25-4D51-BFA1-AF6F41E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D3242B-5244-42E5-8593-8778497C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    return answer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CC75A7-23E0-4763-95FD-D7F96846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15385-ECA3-4E2A-9B6A-A2C08A1A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67225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59664F-9EC4-4EE6-9F90-8D2A3E54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552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E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33EA68-B460-44CC-AB45-DABB249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8EE2A5-6E6D-41EB-A719-769BA89D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8630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array marks[4]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E06F4F-A5D1-4634-8BAD-3D60C6A5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76DA5A-9EF2-45E7-AAC7-F0AFEB4B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05375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set marks[0] = 73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AA8055-0690-4E01-8B58-34B8338C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552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E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9B0C92-0AF2-479B-AFFC-A5561050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7084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93E0BB-3B98-45EB-8600-B2FCBA12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24450"/>
            <a:ext cx="501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say "Factorial 6 = " + factorial(6)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B2E6C5-D8B5-4F7C-9744-2C2BD42E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35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EAA877-EEBA-4BE3-99C9-AF8FEFE6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D9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8D9FF"/>
                </a:solidFill>
                <a:latin typeface="Aptos"/>
                <a:ea typeface="Aptos"/>
                <a:cs typeface="Aptos"/>
              </a:rPr>
              <a:t>User functions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C20382-E065-4AC6-94E2-D17EBCA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4797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func headers are pre-scanned before execution.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BE9846-C18D-438A-9CAD-D8C9330C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289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647950-501F-43C2-8AF1-25FDE14C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527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38D9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B3F707-4B24-4B99-88E1-11D9CE77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35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E97AC8-8315-4F55-BE5C-9562540F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F0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F0A0"/>
                </a:solidFill>
                <a:latin typeface="Aptos"/>
                <a:ea typeface="Aptos"/>
                <a:cs typeface="Aptos"/>
              </a:rPr>
              <a:t>Looping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6EA406-6192-4821-A8C2-D4F9C394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3377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while blocks are matched using nested end detection.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5BB335-44A5-429F-BBD4-37844FF0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147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752259-FC95-434D-9814-6E2E12E4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EF0A0"/>
          </a:solidFill>
          <a:ln xmlns:a="http://schemas.openxmlformats.org/drawingml/2006/main" w="0">
            <a:solidFill>
              <a:srgbClr val="5EF0A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29B2FE-D9B3-4ED7-8A37-2E1DD92B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335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71D00E-1F9B-4C9F-939E-FCCED0EE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19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B4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45A"/>
                </a:solidFill>
                <a:latin typeface="Aptos"/>
                <a:ea typeface="Aptos"/>
                <a:cs typeface="Aptos"/>
              </a:rPr>
              <a:t>Data structures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8F94E9-DB35-459C-9EC0-CB53A95F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957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arrays and matrices use checked indexes.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B9DF5A-B2C6-482C-A9E5-D89E5996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005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17A39F-1155-4EC6-B276-3A353730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243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E8B45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358F24-3537-4247-A592-3F01445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335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66D600-364F-47D8-884B-7D2DE3AE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05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93B47F-99E9-4DBD-A77E-D88ABCBD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0537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say evaluates expressions then prints valueToString().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FEEA65-EEFF-4F6B-B01D-D1E50137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863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98A312-2CDF-4122-B209-0AD1CF8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01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D44BFB-E171-4F15-823A-39A6E77A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Source: examples/showcase.pypy and developer documentation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E948DB-415A-41BE-B3B2-C4E2B7A8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11593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A1A8C-C8D2-4A9A-9FAD-D7034B4D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E92E8-6A23-4163-BDDC-5C56A6C4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B84BE-0CC7-48D4-B91D-1F6C9902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A8EB6-B97E-441A-A55C-B4C0868A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910156-4BE2-4ABA-B579-D2A509AD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8616936-EFA9-439B-B63E-0AEB00C8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2797C-2A7B-4C0D-8C0F-92988461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interpreter is a clean pipeline from source lines to runtime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1E12F-2A2B-4016-B630-C29AFAD1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Each stage is visible in the codebase and maps to a developer-facing function.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5C515-C536-419C-821B-90E8AD9A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1619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9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AE3E8-5969-462F-8C5C-7DD6CA35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CA3BA-7C61-4665-BD9D-B1FBBEDB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2E331-FAD9-465A-BBF1-6CA316B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31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loadFile() reads .pypy lines into Program.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EFF98-5327-4A24-BC51-D1FEEA72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62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1A326-A756-4838-8B8F-9A512131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861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5F70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2B218-250E-426A-9D80-41F6170C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19400"/>
            <a:ext cx="1619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9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BE2E7-2545-4532-9512-EB4A0ACA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1940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26A4B-DF18-492E-A4C3-541FE12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386DC-76B8-4D60-B102-EB160927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76600"/>
            <a:ext cx="131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cleanLine() trims and removes comments safely.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A9703-2C90-4D33-9EA4-5618225E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AA883-E2EC-42A9-A092-30B7C0BC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5F708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AF9F1-A9E9-461A-9C4B-D6C8B905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1619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9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C2AE5-5BC9-4A28-9273-9CFF87A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89C0F-8343-425A-BF93-75E57B64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718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Pre-scan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511C5A-D5B7-40AD-8A10-D1FE66A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131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preprocessFunctions() records func blocks.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B6DF5-8930-4B9F-B1C9-56292C47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5C0A43-8299-49A8-9148-15F44A5B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5F708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4EFA3-884A-4234-BB48-5EA8BC0C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1619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9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08E46-6C74-4AB4-B9EC-798B9E82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A99A09-1751-4DA9-81BB-33D3E5C8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78AE1E-9BD4-4755-9E47-AA275CE9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76600"/>
            <a:ext cx="131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executeBlock() runs statements and expressions.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5DEF33-D827-4BEF-8D8E-BB08E4E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2B1C49-E34D-4A81-B505-35E02810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5F708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B15463-3F47-425C-B142-05C505DA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19400"/>
            <a:ext cx="1619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9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EAE5F-888E-4CC5-9FA8-63E6EEEA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1940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C2B934-4EB7-4B0B-97E3-9A1B8781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56DA3C-E68A-4C50-8827-F82F02F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1314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say, files, errors, and return values surface results.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20283C-E91B-4BBD-BF1A-15C8498B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95850"/>
            <a:ext cx="847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31C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958BCF-B2E7-427D-9A59-9558D11B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B4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B45A"/>
                </a:solidFill>
                <a:latin typeface="Aptos"/>
                <a:ea typeface="Aptos"/>
                <a:cs typeface="Aptos"/>
              </a:rPr>
              <a:t>Architecture defense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F3D005-EB50-4E25-9E12-C4D25ECD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0150"/>
            <a:ext cx="563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The project separates source storage, expression parsing, runtime state, function calls, built-ins, and terminal handling. That separation makes it explainable and extendable.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4B60C9-2096-42CA-BE31-BA1C0A77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Source: DEVELOPER_FUNCTION_DOCUMENTATION.md high-level execution flow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DF3BDD-604E-45CF-A108-697621D8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3709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F31DCA-2515-4B42-8F65-5BE88BC0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02D97-33D0-4F52-858E-730F62B7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6A61A-B7EA-4A4B-9C1F-B9F674A6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85894-2226-4AB8-910E-811D5806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19AB68-4501-4109-8DE2-30A94080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5A5EA02-AAD3-4632-8D77-2F9AB7D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EXPRESSION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E3C3A-A2BD-4782-B299-38B639CB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BODMAS is implemented as a layered recursive-descent parser.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5A26A-87E1-4B2D-B9A9-9722B451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The parser gives predictable math and logic while keeping the code understandable for a C++ project defense.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835DE-E9EC-4766-863F-7294A9F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A39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D8584-3FE5-447B-B3DF-70AE1D21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parseOr()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5631A-7580-49D5-9835-E4E1F681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622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FE3EF-48F8-461A-8E48-E01E62FF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670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8"/>
          </a:solidFill>
          <a:ln xmlns:a="http://schemas.openxmlformats.org/drawingml/2006/main" w="9525">
            <a:solidFill>
              <a:srgbClr val="2A39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57810-E748-4440-B504-74A10729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241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parseAnd()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2322B-7E60-47EC-AC33-731BE055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2415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244B6-2C6C-470A-BF02-95DC35D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A39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1C49B-ABB6-48CE-AF9C-378F933B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861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parseEquality()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E06EB-11BA-4DDD-88E1-E9186DDA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86100"/>
            <a:ext cx="2019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==  !=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A2B0E-E914-4EF9-B66A-7BCCC52F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90900"/>
            <a:ext cx="464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8"/>
          </a:solidFill>
          <a:ln xmlns:a="http://schemas.openxmlformats.org/drawingml/2006/main" w="9525">
            <a:solidFill>
              <a:srgbClr val="2A39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35A94-F85C-47BC-90FB-EA6A7B18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480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parseComparison()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3531E-D93A-4B43-9F26-73D761B5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48050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&lt;  &lt;=  &gt;  &gt;=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31458-0471-48C1-A41D-843F8849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489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A39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10B30-0646-47F1-ABB7-8A3CC88C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parseTerm()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6FD7D-53B5-469A-A13E-9D2C738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2514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+  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240CE-B439-4B80-81EA-6E0883F1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148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8"/>
          </a:solidFill>
          <a:ln xmlns:a="http://schemas.openxmlformats.org/drawingml/2006/main" w="9525">
            <a:solidFill>
              <a:srgbClr val="2A39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C044B9-8986-4BD2-B35A-90630AA7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719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parseFactor()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09B3D4-F4A1-423A-B3B8-CF0D0C69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71950"/>
            <a:ext cx="2762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*  /  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6D327-F460-4333-80FA-B9BFE6BE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76750"/>
            <a:ext cx="539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A39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B6CF3-24FA-41F8-8DB6-127AD48E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339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parsePower()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4475A-BB0A-49B3-9A50-CE8A55BA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339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^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EFB3C2-51E4-4E36-8C23-843964F9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838700"/>
            <a:ext cx="563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8"/>
          </a:solidFill>
          <a:ln xmlns:a="http://schemas.openxmlformats.org/drawingml/2006/main" w="9525">
            <a:solidFill>
              <a:srgbClr val="2A39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BD963E-D2CE-4876-90F0-64B23872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8958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parseUnary()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FCFE81-3C88-4031-8399-F38D29FF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895850"/>
            <a:ext cx="3257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-x  not 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E82CF7-596B-4547-A4AC-3FB31ED9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00650"/>
            <a:ext cx="588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A394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6DF5F7-F74A-4B1E-BA54-5EA11077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578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8D9FF"/>
                </a:solidFill>
                <a:latin typeface="Aptos Mono"/>
                <a:ea typeface="Aptos Mono"/>
                <a:cs typeface="Aptos Mono"/>
              </a:rPr>
              <a:t>parsePrimary()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38B8F3-577B-4B00-BBF5-45EE91D6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57800"/>
            <a:ext cx="3505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values, variables, calls, arrays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41B79-0E35-41BA-AD54-A2123935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333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BD6"/>
          </a:solidFill>
          <a:ln xmlns:a="http://schemas.openxmlformats.org/drawingml/2006/main" w="9525">
            <a:solidFill>
              <a:srgbClr val="D6BF8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100176-C676-433C-B6E1-8EF34ABD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Proof expression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0D4BAA-75A1-4D50-A964-46393758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2 + 3 * 4 ^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92F59F-8F9A-46B5-A78C-0B984FC2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4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4A32"/>
                </a:solidFill>
                <a:latin typeface="Aptos"/>
                <a:ea typeface="Aptos"/>
                <a:cs typeface="Aptos"/>
              </a:rPr>
              <a:t>evaluates 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2AA7E3-B4C4-46FF-8BDF-A39CC89D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2905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D2F141-1AF5-4D78-9542-7431DAC5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4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4A32"/>
                </a:solidFill>
                <a:latin typeface="Aptos"/>
                <a:ea typeface="Aptos"/>
                <a:cs typeface="Aptos"/>
              </a:rPr>
              <a:t>Power first, then multiplication, then addition.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6E0EFD-CAA9-46D5-A55F-9B9021C1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Source: LANGUAGE_GUIDE.md BODMAS section and ExpressionParser docs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425595-B8B0-4A75-978D-3508236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5744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D1C1D-3158-4341-88F3-92787747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B79B3-E60F-4205-945C-A34F3150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8D60B-FC9E-4F9E-8CA3-96423C1D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BF8C3-D053-4713-AF66-69643F0E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5E647E0-DDEB-4E2A-B1A6-BF7E27A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53DFDF-41CE-489F-A528-F784C8AB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DEMO 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E9BC4-63EF-41AA-84D0-38F3B49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hotel management demo proves the language can build a small persistent app.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02D88-8888-4A0E-A899-420F10F0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It uses input, menus, random IDs, calculations, file writes, file reads, and reports.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6242D-977F-41C6-B599-EC11887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457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68C2A-C677-42CB-A2DC-0B923096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45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4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9BBEE-98CE-456A-B7EA-5FAD83D3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312FF-AC44-4EDA-A250-141B5231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9EF3E-ECFE-4CE8-A84E-9E58F89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07E4D-5E5D-4B5C-A1C5-31E52E5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3581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rPr>
              <a:t>hotel_management.pypy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1EA45-609E-4FF8-BCA7-2D937340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PyPy Hotel Management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A994D-E7D1-41F6-A01A-287E632C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1. Add guest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45FF0-4DC6-4CE3-8DAF-C9CF8E19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2. Reserve 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53BE5-970F-4475-B897-9A645DA6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3. Checkout /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58AA4-FC1C-43BE-80B7-FE7F7A50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4. View database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B2077-F50A-4090-8B75-7B8C69AA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5. Hotel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5ADC2-6208-4883-BFFA-53962DC8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7FAFC"/>
                </a:solidFill>
                <a:latin typeface="Aptos Mono"/>
                <a:ea typeface="Aptos Mono"/>
                <a:cs typeface="Aptos Mono"/>
              </a:rPr>
              <a:t>6. Exit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1109E-6260-447B-ACD7-AB1502FA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B45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8B45A"/>
                </a:solidFill>
                <a:latin typeface="Aptos Mono"/>
                <a:ea typeface="Aptos Mono"/>
                <a:cs typeface="Aptos Mono"/>
              </a:rPr>
              <a:t>&gt; Choose option: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8C8A9-5006-4E63-9791-AD45E834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479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70B6E-441A-4F8A-B09B-64568B7B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908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8D9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8D9FF"/>
                </a:solidFill>
                <a:latin typeface="Aptos"/>
                <a:ea typeface="Aptos"/>
                <a:cs typeface="Aptos"/>
              </a:rPr>
              <a:t>Guest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DDC6CC-2EF7-471E-B04D-987A91C5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765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name, phone, city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2ABEDB-1325-4D7F-9FF7-F7EDFD6A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908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0FDD29-D438-46B3-9288-6278075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5F708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5F2FB2-B93A-4D9A-A2D8-DC92FB3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95075-BFF2-41E5-BDFE-5865DAD4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F0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F0A0"/>
                </a:solidFill>
                <a:latin typeface="Aptos"/>
                <a:ea typeface="Aptos"/>
                <a:cs typeface="Aptos"/>
              </a:rPr>
              <a:t>Booking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62379E-2EFA-41D1-87D4-6D62225E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room, nights, 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76478C-E365-4787-B135-746905B0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671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561572-7761-4C1C-BCE1-7C8E8759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100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B4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B45A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A3E761-E685-465E-A99E-C4F4E62F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957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amount, method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B1AF5D-4093-4CD3-9150-213C428F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10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A66FC6-911E-403C-ACCF-DFE37988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338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5F708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7469E-0348-494C-8DC5-7DF510E8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23E4FF-CFE0-47CD-B629-93F0CBFB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00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C67C28-AD8C-4C04-B9B5-809DFF1A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957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linecount and filesize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1611A-B19C-4F77-A555-45B3D4B1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31C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A7515E-D037-4FCF-BE03-30146117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434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FAEC0"/>
                </a:solidFill>
                <a:latin typeface="Aptos Mono"/>
                <a:ea typeface="Aptos Mono"/>
                <a:cs typeface="Aptos Mono"/>
              </a:rPr>
              <a:t>Writes: hotel_guests.db | hotel_bookings.db | hotel_payments.db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A3F20B-0DF5-4309-8E31-C49D9F92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Source: examples/hotel_management.pypy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23A500-8662-4938-B676-ACB3206A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854670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76FC7E-71DC-410F-B1A8-0E943CDE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A5E34-C2AD-4DEA-8E8B-286D468E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26133-2A1F-424A-A609-57A0BEED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BE117-DD1C-41FA-AAF0-76B4D243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13E21C-3D5C-4DBA-9655-30857719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65221A-53E2-4973-A93D-7DDAA5FB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C7BE4-60B5-4EA6-A6B7-0EB0B8B9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interpreter is intentionally constrained, explainable, and demo-safe.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745F5-D91B-4754-96B1-3CBE79A7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Runtime limits and clear errors make the project easier to defend in front of an evaluator.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EE4DF-7506-480E-BA1A-E48D2B07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026C9-AFA6-4601-96DD-241494BC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91AC7-D444-4C23-9B13-FFCFE101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2000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2817E-023E-4FDF-A50F-C3665E9E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maximum program lines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F2FB1-96C4-4A28-A905-3BA8F7B7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797C0-8298-4B99-8444-99E8D00A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BED26-B3FE-486E-AAAC-0D63C60C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053F6-1B7C-480E-915E-C114F979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194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variables per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5D1AA-3062-4218-BCC3-E6776554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0BD2E-DF8F-4506-B9C4-8D533405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979E3-28AE-41E9-BA4D-87BF9B55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051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400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624C7-3A71-4AD7-9308-E31AE62F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194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array/matrix cells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6BE56-5FDD-41EB-A16B-B585EB9B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BFE56-D93D-432B-8A0C-E5F7B533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0A240-70F2-477F-A8E7-5A0C106B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051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A441F-BC7C-4448-943A-F71951E1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194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call depth limit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5347A6-FB18-469A-BA65-BE7439C6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A455C-CD6A-4289-8BE3-22CAC62C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50398-C75D-48A6-9AD2-A67A1190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200K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A94990-8CC5-4E64-8769-A3B8D3BB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194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loop step guard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25636-3323-49F8-9FC5-DB8D4FDF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BD6"/>
          </a:solidFill>
          <a:ln xmlns:a="http://schemas.openxmlformats.org/drawingml/2006/main" w="9525">
            <a:solidFill>
              <a:srgbClr val="D6BF8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AA0ED-6BC9-4A4E-92FB-8011CEB1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Error reporting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2883A7-D807-458A-93E9-443A3462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910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PyPy error at line 2: Division by zero.\nsay 100 / 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CD8805-1799-4210-A1CD-4CE36E36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836FBB-83FF-4E0F-9D82-EC515EFC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Scoped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FCBBA3-8BBF-4446-9487-5DA14A1D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91050"/>
            <a:ext cx="3219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Functions run in local environments with access to global state through a parent scope.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3DB4AE-33F5-4756-8B75-5842BD11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Source: pypy_language.cpp constants and error handling docs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D5010B-2F7B-4ED1-9ED2-903EE08F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881736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54A19-0AE0-455F-B381-6C675D2A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A448F-32B7-420A-9D2B-0191E886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B85A2-FD3D-46A9-8167-E0AA21C7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1E1F9-573A-497D-8CBD-C69C4C2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7AB348-6668-4A9A-B239-B8CA416E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E10EF3-FF81-49F6-A4B4-322066C9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BENEFITS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C224C-1EA3-4671-A987-FF7DA6BD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project creates academic value and practical demo value at the same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33528-610F-4161-A0BB-635250A8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It proves fundamentals, shows an executable result, and leaves a clear path for future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6B1A5-3C44-4D6D-9EAC-9CC7D30F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B7982-D6E7-40C8-A1B8-C3E69FD4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630e5ab1a4f98">
            <a:extLst>
              <a:ext uri="{96DAC541-7B7A-43D3-8B79-37D633B846F1}">
                <asvg:svgBlip xmlns:asvg="http://schemas.microsoft.com/office/drawing/2016/SVG/main" r:embed="Rdc31bab9e4d84f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57325" y="3228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C93FA-74F3-446E-9473-926A406B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Compiler thinking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010D7-8FCF-41A0-A5BE-E12EB60A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0050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Tokenization, expression precedence, block matching, and execution flow are implemented directly.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79E7B-10DC-4D20-930B-755048A4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7EC19-4E03-4ED8-8DF4-60671CAC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242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6585d60d14be7">
            <a:extLst>
              <a:ext uri="{96DAC541-7B7A-43D3-8B79-37D633B846F1}">
                <asvg:svgBlip xmlns:asvg="http://schemas.microsoft.com/office/drawing/2016/SVG/main" r:embed="Ra4e94124e64d45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10125" y="3228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1DFA0-9F57-4302-960F-784E772A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909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C++ fundamentals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B64C3-36ED-4874-9F10-FCACC71B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10050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Pointers, arrays, classes, manual parsing, file streams, and structured error state appear throughout.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89C24-86DD-4825-9B01-D6DDDD19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956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CCCA6-3C65-49A1-9455-3EE24489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84e87ee454ed6">
            <a:extLst>
              <a:ext uri="{96DAC541-7B7A-43D3-8B79-37D633B846F1}">
                <asvg:svgBlip xmlns:asvg="http://schemas.microsoft.com/office/drawing/2016/SVG/main" r:embed="Rb027249608eb44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62925" y="3228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D232A-9863-44BB-99E1-788ACA00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Presentation power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8BB5D-FD63-4331-A0A0-1850E845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0050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The examples demonstrate math, input, built-ins, files, and a complete hotel management app.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597AE-1E32-4AC6-87D1-50F57F97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48300"/>
            <a:ext cx="794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B4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8B45A"/>
                </a:solidFill>
                <a:latin typeface="Aptos"/>
                <a:ea typeface="Aptos"/>
                <a:cs typeface="Aptos"/>
              </a:rPr>
              <a:t>Professor takeaway: this is a complete learning artifact, not a one-file toy script.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0151BB-500F-43DC-B5BB-C56B33C8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Source: README.md presentation talking points and project files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543612-8AC6-4538-80A2-AB15B27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93932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9CDEF-D6FC-4CB8-952D-9DD5DA59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638C8-AB94-4443-8960-3FACD85B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F8656-12DF-4424-8D7D-22CE4A36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0385D-2BA3-4A5C-A258-0981A6CE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9EB6DD2-7712-49CE-8875-38641DFF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28A4EB-287C-4E56-83A0-4B47F4F1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FUTURE ENHANCEMENTS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6A422-F1EB-4B4A-92DB-ACF20975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next version can evolve from mini language to developer toolkit.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5FEFD-73EB-4A9E-99A2-9AA347A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The foundation is already separated enough to support focused upgrades.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0E44A-C334-4D95-8FD7-04AAB541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B3986-7D53-42DB-9B8A-630C3298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D9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D9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5ED88-202A-4F03-AC5A-E8B3CFE3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Better tooling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C637B-2688-4745-9E26-CA35A784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syntax highlighting, formatted errors, VS Code snippets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4AAE0-15E6-4AB1-929C-B2E8B42F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8395E-4F35-47F2-8B22-D56C801C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1465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397C9-7757-48E8-BA9F-4FF062F2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EF0A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EF0A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7D18A-3337-4460-AED3-EDE98AD7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Language 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F60F8-C932-45D5-A4FC-85CBE281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for loops, dictionaries, include/import 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69A59-202E-4BFA-8CF7-3301FF87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D9397-B3ED-4BD8-858B-FFC5BFB0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83294-65A1-4BF9-A418-B19EFF62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B45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8B45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034CB-01E3-43FA-91BA-66AF4052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Runtime 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F0CB6-6E43-494F-807C-E03BB484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test runner, standard library modules, package examples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9D7D4-AC27-43F1-A154-22C88D54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0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CC266C-1776-4B3A-9741-01DA15EA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06A52-F8A8-4BCD-AC01-6338C2FE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1A65A-01EA-4324-BFB2-4025D00B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Teaching mode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7C4E5-84E6-441B-8958-20540891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visual execution trace and step-by-step parser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E7A0A-076E-47F2-AEB3-DA691E2B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9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875926-BD80-4AB9-86A0-89CE16D6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67325"/>
            <a:ext cx="7543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Enhancement strategy: improve developer experience first, then expand syntax and teaching features.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0BFE30-7198-4E39-AB03-CA6D2B5F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Source: local project files and examples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91ABE2-D555-4E06-9F8C-0741643A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127301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6468F-4997-4CA0-9F05-1BE64EAB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27C2A-0CEC-433A-B94E-D7FE2ECE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08A18-0D52-49CD-A182-9B4A459D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09450-5010-45E0-BB63-B642FC0B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965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5883D39-9E0F-4156-A821-6F283220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F3A098-624F-452A-A1D8-A89F0998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TEAM AND CLOSING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C69E7-C206-4495-92BB-78CC17EE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810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Built by a focused two-person team, ready for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48EBE-1683-499A-9E49-5DC8DB01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PyPy C++ demonstrates a working interpreter, a readable language, and real presentation demos.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FEA6A-69CA-4F26-A6ED-F896A092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4286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15FA4-7C3D-4FEC-B7DB-B6219405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a5caa2bde4866">
            <a:extLst>
              <a:ext uri="{96DAC541-7B7A-43D3-8B79-37D633B846F1}">
                <asvg:svgBlip xmlns:asvg="http://schemas.microsoft.com/office/drawing/2016/SVG/main" r:embed="R3dfad17f048a4a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66825" y="3419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43351-763B-4307-A742-494FE9A7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Ahmad Bin Tahir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377B7-A043-4DDC-A800-1F14392B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Interpreter implementation, project packaging, demos, and technical presentation narrative.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D19EB-0DE7-4289-BFD2-A926CFD5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9900"/>
            <a:ext cx="4286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1"/>
          </a:solidFill>
          <a:ln xmlns:a="http://schemas.openxmlformats.org/drawingml/2006/main" w="9525">
            <a:solidFill>
              <a:srgbClr val="2B3B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D6950-3ADC-4E2E-BBDC-FEC7C23C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31405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c2d90550841e5">
            <a:extLst>
              <a:ext uri="{96DAC541-7B7A-43D3-8B79-37D633B846F1}">
                <asvg:svgBlip xmlns:asvg="http://schemas.microsoft.com/office/drawing/2016/SVG/main" r:embed="R7faffbc84a3444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3419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75A93-78B8-4B36-A835-F8E3D23D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95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Zoya Masood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F7AA5-6ACD-4F6E-814E-6E3126DF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Language testing, examples, demo scenarios, and presentation support for project delivery.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7906A-E419-4777-8B59-91640E3A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01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41299-C1B3-492B-881E-966BEDCA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0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993ED-2CF2-45B5-B66B-AF17456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50F4-97C0-43D8-A94D-A4DD5BA1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578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8EBB1-1ADB-4D9B-8863-8205404A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101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5E490-D488-407A-9A10-56FA713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10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F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FA225-BA91-4DF6-82D1-5645910F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Terminal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B706E-6D40-4FFC-A5A0-5EDDAD09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578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15F74-3281-4278-854E-ACB4828B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101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AC8953-F809-4F0B-8045-D6124E5E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10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4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98BEE-9426-411A-8C74-C4FF5D4A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435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Hotel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CA97E1-8A7D-48B1-A623-C6377127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578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demo app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50960-E7A1-47E8-AA4C-1BF6F5AE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01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1D"/>
          </a:solidFill>
          <a:ln xmlns:a="http://schemas.openxmlformats.org/drawingml/2006/main" w="9525">
            <a:solidFill>
              <a:srgbClr val="25344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3276B-85A1-49D5-8E4D-B2B6309F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0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343449-86A5-4893-ACA9-07CFA0A5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435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Errors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A72D68-C89A-4C9F-A770-36B2272C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5782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AEC0"/>
                </a:solidFill>
                <a:latin typeface="Aptos"/>
                <a:ea typeface="Aptos"/>
                <a:cs typeface="Aptos"/>
              </a:rPr>
              <a:t>line-level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CD086-0784-4C15-881E-020D68BF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579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Final ask: evaluate PyPy C++ as a complete, working language interpreter project.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EC36D1-6A75-4E7B-AEF1-7D2081A1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4"/>
                </a:solidFill>
                <a:latin typeface="Aptos"/>
                <a:ea typeface="Aptos"/>
                <a:cs typeface="Aptos"/>
              </a:rPr>
              <a:t>Team: Ahmad Bin Tahir and Zoya Masood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AE37DD-ED61-4992-86DE-CC18C8CD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AEC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AEC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81352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2026-05-31T16:57:09.5710000Z</dcterms:created>
  <dcterms:modified xsi:type="dcterms:W3CDTF">2026-05-31T16:57:09.5710000Z</dcterms:modified>
</coreProperties>
</file>